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1-1.jpg" ContentType="image/jpg"/>
  <Override PartName="/ppt/media/image-17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key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854135" y="502920"/>
            <a:ext cx="2788920" cy="329184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54135" y="566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MYTHIC CATHEDRAL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5800" y="2148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13232" y="2852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AI Labor Infrastructure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85800" y="3520440"/>
            <a:ext cx="10881360" cy="402336"/>
          </a:xfrm>
          <a:prstGeom prst="round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35935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ENS: *.alpha.node.agi.eth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663440" y="359359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verifiable • Settlement is on-chain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5800" y="5989320"/>
            <a:ext cx="10881360" cy="685800"/>
          </a:xfrm>
          <a:prstGeom prst="round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2A3246">
                <a:alpha val="4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619048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dawn of the AGI ALPHA Nodes era is upon us.”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6291072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AGI King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11535" y="65562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>
              <a:alpha val="85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54135" y="502920"/>
            <a:ext cx="2788920" cy="329184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54135" y="566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CATHEDRAL EDITION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73152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Digital Era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cathedral of computation where intelligence becomes auditable infrastructure.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715000" cy="39776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011680"/>
            <a:ext cx="54864" cy="3337560"/>
          </a:xfrm>
          <a:prstGeom prst="roundRect">
            <a:avLst/>
          </a:prstGeom>
          <a:solidFill>
            <a:srgbClr val="D946EF"/>
          </a:solidFill>
          <a:ln w="12700">
            <a:solidFill>
              <a:srgbClr val="D94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8928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2258568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sovereign nodes that plan, execute, and validate work.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action measurable: logs → proofs → settlement.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coordination into code: incentives, slashing, governance.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at machine speed—without surrendering human control.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691640"/>
            <a:ext cx="5193792" cy="39776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2011680"/>
            <a:ext cx="54864" cy="333756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2552" y="1892808"/>
            <a:ext cx="4690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Commit 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02552" y="2258568"/>
            <a:ext cx="469087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ENS-anchored identity + discoverability by default.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Container-first deployment with fail-fast safety checks.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synthetic labor units (α‑WU) as the system’s meter.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$AGIALPHA as the work-credit for staking, settlement, coordination.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dashboards, audit trails, and institutional ops posture.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897880"/>
            <a:ext cx="10908792" cy="749808"/>
          </a:xfrm>
          <a:prstGeom prst="round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2A3246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6099048"/>
            <a:ext cx="10268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are not just building technology; we are forging a new digital era—an era where intelligence, adaptability, and foresight are woven into the fabric of the blockchain.”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6263640"/>
            <a:ext cx="10268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AGI 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11535" y="65562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>
              <a:alpha val="85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54135" y="502920"/>
            <a:ext cx="2788920" cy="329184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54135" y="566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CATHEDRAL EDITION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73152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Repositories, One System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→ Protocol → Deployment. One coherent machine.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3497072" cy="429768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011680"/>
            <a:ext cx="54864" cy="365760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892808"/>
            <a:ext cx="2994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AGI‑Alpha‑Agent‑v0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2258568"/>
            <a:ext cx="299415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Meta‑agentic orchestration patterns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Self‑improving agent loops &amp; planning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sandbox: strategies before production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30344" y="1691640"/>
            <a:ext cx="3497072" cy="429768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8944" y="2011680"/>
            <a:ext cx="54864" cy="36576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7816" y="1892808"/>
            <a:ext cx="2994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AGIJobsv0 (v2)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77816" y="2258568"/>
            <a:ext cx="299415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On‑chain job registry + incentives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Staking, validation, and settlement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“spine” for verifiable work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20608" y="1691640"/>
            <a:ext cx="3497072" cy="429768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49208" y="2011680"/>
            <a:ext cx="54864" cy="36576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68080" y="1892808"/>
            <a:ext cx="2994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AGI‑Alpha‑Node‑v0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68080" y="2258568"/>
            <a:ext cx="299415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node runtime + sidecars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validation, monitoring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UX: deploy → register → participate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46880" y="5513832"/>
            <a:ext cx="1005840" cy="0"/>
          </a:xfrm>
          <a:prstGeom prst="line">
            <a:avLst/>
          </a:prstGeom>
          <a:noFill/>
          <a:ln w="25400">
            <a:solidFill>
              <a:srgbClr val="2A324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37144" y="5513832"/>
            <a:ext cx="1005840" cy="0"/>
          </a:xfrm>
          <a:prstGeom prst="line">
            <a:avLst/>
          </a:prstGeom>
          <a:noFill/>
          <a:ln w="25400">
            <a:solidFill>
              <a:srgbClr val="2A3246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474216" y="5596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64480" y="5596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54744" y="5596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11535" y="65562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>
              <a:alpha val="85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54135" y="502920"/>
            <a:ext cx="2788920" cy="329184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54135" y="566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CATHEDRAL EDITION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73152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AGI ALPHA Node?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sovereign unit of verifiable synthetic labor.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10972800" cy="39776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20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21284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containerized runtime that is ENS‑identified, staked, and authorized to execute and/or validate AGI Jobs—producing measurable work that can be settled on‑chain.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926080"/>
            <a:ext cx="10332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deterministic orchestration cycles + specialist agents.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identity to &lt;name&gt;.alpha.node.agi.eth for trustless discovery.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Stakes $AGIALPHA to activate roles (worker / validator / sentinel).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jobs → executes off‑chain → submits verifiable artifacts.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Participates in validation, slashing, and reward distribution.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806440"/>
            <a:ext cx="10972800" cy="457200"/>
          </a:xfrm>
          <a:prstGeom prst="round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2A3246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8978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convert complexity into verifiable action—then settle 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11535" y="65562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>
              <a:alpha val="85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54135" y="502920"/>
            <a:ext cx="2788920" cy="329184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54135" y="566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CATHEDRAL PILLARS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73152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deployable, auditable, and upgradeable without losing trust.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486400" cy="205740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011680"/>
            <a:ext cx="54864" cy="1417320"/>
          </a:xfrm>
          <a:prstGeom prst="roundRect">
            <a:avLst/>
          </a:prstGeom>
          <a:solidFill>
            <a:srgbClr val="D946EF"/>
          </a:solidFill>
          <a:ln w="12700">
            <a:solidFill>
              <a:srgbClr val="D94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89280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Runtime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2258568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containers + pinned dependencies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Fail‑fast startup checks (ENS, stake, contracts)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31280" y="1691640"/>
            <a:ext cx="5486400" cy="205740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59880" y="2011680"/>
            <a:ext cx="54864" cy="141732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78752" y="189280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Identity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78752" y="2258568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ENS‑anchored node names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telemetry + tamper‑evident audit trails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5486400" cy="205740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572000"/>
            <a:ext cx="54864" cy="14173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45312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Token‑Native Utility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4818888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$AGIALPHA for stake, settlement, and coordination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Slashing aligns incentives with correctness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31280" y="4251960"/>
            <a:ext cx="5486400" cy="205740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59880" y="4572000"/>
            <a:ext cx="54864" cy="141732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8752" y="445312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Readiness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78752" y="4818888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incident playbooks, key management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 via governance and explicit versioning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11535" y="65562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>
              <a:alpha val="85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54135" y="502920"/>
            <a:ext cx="2788920" cy="329184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54135" y="566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CATHEDRAL EDITION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73152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on the Network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runtime. Multiple duties. Clear accountability.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3497072" cy="44348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011680"/>
            <a:ext cx="54864" cy="3794760"/>
          </a:xfrm>
          <a:prstGeom prst="roundRect">
            <a:avLst/>
          </a:prstGeom>
          <a:solidFill>
            <a:srgbClr val="D946EF"/>
          </a:solidFill>
          <a:ln w="12700">
            <a:solidFill>
              <a:srgbClr val="D94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892808"/>
            <a:ext cx="2994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2258568"/>
            <a:ext cx="299415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jobs deterministically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artifacts (hash / IPFS)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settlement after validation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30344" y="1691640"/>
            <a:ext cx="3497072" cy="44348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8944" y="2011680"/>
            <a:ext cx="54864" cy="379476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7816" y="1892808"/>
            <a:ext cx="2994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77816" y="2258568"/>
            <a:ext cx="299415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Commit–reveal attestations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SLO + output quality (QV)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Slashing for faults or dishonesty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20608" y="1691640"/>
            <a:ext cx="3497072" cy="44348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49208" y="2011680"/>
            <a:ext cx="54864" cy="3794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68080" y="1892808"/>
            <a:ext cx="2994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68080" y="2258568"/>
            <a:ext cx="299415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safety, health, and drift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local pause + escalation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audit posture + uptime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11535" y="65562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>
              <a:alpha val="85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54135" y="502920"/>
            <a:ext cx="2788920" cy="329184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54135" y="566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CATHEDRAL EDITION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73152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End‑to‑End Job Lifecycle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Event‑driven, auditable, and settleable.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1742389" cy="23774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377440"/>
            <a:ext cx="54864" cy="173736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67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2258568"/>
            <a:ext cx="133090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2624328"/>
            <a:ext cx="1330909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ENS manifests + registry events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00757" y="3246120"/>
            <a:ext cx="73152" cy="0"/>
          </a:xfrm>
          <a:prstGeom prst="line">
            <a:avLst/>
          </a:prstGeom>
          <a:noFill/>
          <a:ln w="25400">
            <a:solidFill>
              <a:srgbClr val="2A324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73909" y="2057400"/>
            <a:ext cx="1742389" cy="23774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5077" y="2377440"/>
            <a:ext cx="54864" cy="173736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11069" y="2167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66517" y="2258568"/>
            <a:ext cx="133090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66517" y="2624328"/>
            <a:ext cx="1330909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/ accept mission parameters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34586" y="3246120"/>
            <a:ext cx="73152" cy="0"/>
          </a:xfrm>
          <a:prstGeom prst="line">
            <a:avLst/>
          </a:prstGeom>
          <a:noFill/>
          <a:ln w="25400">
            <a:solidFill>
              <a:srgbClr val="2A324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07738" y="2057400"/>
            <a:ext cx="1742389" cy="23774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08906" y="2377440"/>
            <a:ext cx="54864" cy="1737360"/>
          </a:xfrm>
          <a:prstGeom prst="roundRect">
            <a:avLst/>
          </a:prstGeom>
          <a:solidFill>
            <a:srgbClr val="D946EF"/>
          </a:solidFill>
          <a:ln w="12700">
            <a:solidFill>
              <a:srgbClr val="D94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44898" y="2167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00346" y="2258568"/>
            <a:ext cx="133090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00346" y="2624328"/>
            <a:ext cx="1330909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deterministic workflow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68416" y="3246120"/>
            <a:ext cx="73152" cy="0"/>
          </a:xfrm>
          <a:prstGeom prst="line">
            <a:avLst/>
          </a:prstGeom>
          <a:noFill/>
          <a:ln w="25400">
            <a:solidFill>
              <a:srgbClr val="2A324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41568" y="2057400"/>
            <a:ext cx="1742389" cy="23774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42736" y="2377440"/>
            <a:ext cx="54864" cy="1737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8728" y="2167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34176" y="2258568"/>
            <a:ext cx="133090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34176" y="2624328"/>
            <a:ext cx="1330909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proofs, hashes, telemetry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02245" y="3246120"/>
            <a:ext cx="73152" cy="0"/>
          </a:xfrm>
          <a:prstGeom prst="line">
            <a:avLst/>
          </a:prstGeom>
          <a:noFill/>
          <a:ln w="25400">
            <a:solidFill>
              <a:srgbClr val="2A3246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975397" y="2057400"/>
            <a:ext cx="1742389" cy="23774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5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76565" y="2377440"/>
            <a:ext cx="54864" cy="173736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2557" y="2167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68005" y="2258568"/>
            <a:ext cx="133090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68005" y="2624328"/>
            <a:ext cx="1330909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Commit–reveal + QV/SLO scoring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736074" y="3246120"/>
            <a:ext cx="73152" cy="0"/>
          </a:xfrm>
          <a:prstGeom prst="line">
            <a:avLst/>
          </a:prstGeom>
          <a:noFill/>
          <a:ln w="25400">
            <a:solidFill>
              <a:srgbClr val="2A3246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809226" y="2057400"/>
            <a:ext cx="1742389" cy="23774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5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10394" y="2377440"/>
            <a:ext cx="54864" cy="173736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46386" y="2167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101834" y="2258568"/>
            <a:ext cx="133090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101834" y="2624328"/>
            <a:ext cx="1330909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payment + record finality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emits on‑chain events and writes audit evidence.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911535" y="65562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>
              <a:alpha val="85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54135" y="502920"/>
            <a:ext cx="2788920" cy="329184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54135" y="566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CATHEDRAL EDITION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73152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Discovery via ENS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not a database row. It is a resolvable covenant.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5623560" cy="448056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057400"/>
            <a:ext cx="54864" cy="38404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385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 Identity Enforcement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2304288"/>
            <a:ext cx="51206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name: &lt;label&gt;.alpha.node.agi.eth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+ ownership verified on‑chain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refuses activation on mismatch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Keys: DID signing + secure operator custody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737360"/>
            <a:ext cx="5193792" cy="448056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2057400"/>
            <a:ext cx="54864" cy="384048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2552" y="1938528"/>
            <a:ext cx="4690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Manifests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02552" y="2304288"/>
            <a:ext cx="4690872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 contenthash → node‑manifest.json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Advertises endpoints, roles, capabilities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public keys + telemetry links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decentralized discovery + routing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11535" y="65562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>
              <a:alpha val="85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54135" y="502920"/>
            <a:ext cx="2788920" cy="329184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54135" y="566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CATHEDRAL EDITION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73152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Containerized, One‑Click Deployment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ship nodes like infrastructure—repeatably and safely.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5440680" cy="233172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057400"/>
            <a:ext cx="54864" cy="1691640"/>
          </a:xfrm>
          <a:prstGeom prst="roundRect">
            <a:avLst/>
          </a:prstGeom>
          <a:solidFill>
            <a:srgbClr val="D946EF"/>
          </a:solidFill>
          <a:ln w="12700">
            <a:solidFill>
              <a:srgbClr val="D94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2304288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Docker/Helm images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versions + checksums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via Vault/KMS/HSM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24528"/>
            <a:ext cx="5440680" cy="1993392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544568"/>
            <a:ext cx="54864" cy="135331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42569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Safety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87552" y="4791456"/>
            <a:ext cx="493776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 + stake verification at boot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ABI + chain‑ID pinning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 + local pause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1783080"/>
            <a:ext cx="5193792" cy="2697480"/>
          </a:xfrm>
          <a:prstGeom prst="roundRect">
            <a:avLst/>
          </a:prstGeom>
          <a:solidFill>
            <a:srgbClr val="0A0F1C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011680"/>
            <a:ext cx="4553712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\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-e ENS_NAME=alice.alpha.node.agi.eth \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-e RPC_URL=$RPC_URL \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-e PRIVATE_KEY=$NODE_KEY \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montrealai/agi-alpha-node:latest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4681728"/>
            <a:ext cx="5193792" cy="1536192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5001768"/>
            <a:ext cx="54864" cy="896112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2552" y="4882896"/>
            <a:ext cx="4690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02552" y="5248656"/>
            <a:ext cx="469087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Prometheus/Grafana dashboards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 + traces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for SLO drift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11535" y="65562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>
              <a:alpha val="85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54135" y="502920"/>
            <a:ext cx="2788920" cy="329184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54135" y="566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CATHEDRAL EDITION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73152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$AGIALPHA Utility: Stake • Settle • Coordinate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work‑credit for network operation — not equity, not profit rights.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497072" cy="44348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057400"/>
            <a:ext cx="54864" cy="3794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38528"/>
            <a:ext cx="2994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2304288"/>
            <a:ext cx="299415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participation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roles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Sybil resistance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Slashable accountability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30344" y="1737360"/>
            <a:ext cx="3497072" cy="44348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8944" y="2057400"/>
            <a:ext cx="54864" cy="3794760"/>
          </a:xfrm>
          <a:prstGeom prst="roundRect">
            <a:avLst/>
          </a:prstGeom>
          <a:solidFill>
            <a:srgbClr val="D946EF"/>
          </a:solidFill>
          <a:ln w="12700">
            <a:solidFill>
              <a:srgbClr val="D94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7816" y="1938528"/>
            <a:ext cx="2994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77816" y="2304288"/>
            <a:ext cx="299415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jobs in $AGIALPHA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→ release after validation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routing + burn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withdrawals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20608" y="1737360"/>
            <a:ext cx="3497072" cy="44348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49208" y="2057400"/>
            <a:ext cx="54864" cy="379476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68080" y="1938528"/>
            <a:ext cx="2994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68080" y="2304288"/>
            <a:ext cx="299415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accounting (α‑WU)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splits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signals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parameters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1996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token only: required for network operation; no equity, no profit rights, no claims on an entity.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11535" y="65562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monolith2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854135" y="502920"/>
            <a:ext cx="2788920" cy="329184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54135" y="566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LABOR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580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AI Labor Infrastructure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13232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verifiable productivity substrate: measure → verify → settle → evolve.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85800" y="1783080"/>
            <a:ext cx="10881360" cy="1234440"/>
          </a:xfrm>
          <a:prstGeom prst="round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2A3246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1984248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“AGI ALPHA Nodes are the catalysts in this new economy. They yield $AGIALPHA tokens, bridging the gap between aspirations and achievement. Like digital farmers in a vast cognitive field, they cultivate the future.”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2633472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AGI King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3291840"/>
            <a:ext cx="10881360" cy="2331720"/>
          </a:xfrm>
          <a:prstGeom prst="round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2A3246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3493008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mint verifiable synthetic labor units: α‑Work Units (α‑WU).</a:t>
            </a:r>
            <a:endParaRPr lang="en-US" sz="1600" dirty="0"/>
          </a:p>
          <a:p>
            <a:pPr marL="254000" indent="-2540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$AGIALPHA is the settlement token for jobs and the utility token for staking + coordination.</a:t>
            </a:r>
            <a:endParaRPr lang="en-US" sz="1600" dirty="0"/>
          </a:p>
          <a:p>
            <a:pPr marL="254000" indent="-2540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becomes a machine for auditable productivity—work you can inspect, replay, and settle.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911535" y="65562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>
              <a:alpha val="85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54135" y="502920"/>
            <a:ext cx="2788920" cy="329184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54135" y="566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CATHEDRAL EDITION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73152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α‑Work Units (α‑WU) — Canonical AI Labor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notion of “AI labor” across hardware and model tiers.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972800" cy="114300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3055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α‑WU = GPUₛ × gflops_norm × ModelTier × SLO_pass × QV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72800" cy="475488"/>
          </a:xfrm>
          <a:prstGeom prst="roundRect">
            <a:avLst/>
          </a:prstGeom>
          <a:solidFill>
            <a:srgbClr val="0E1422">
              <a:alpha val="75000"/>
            </a:srgbClr>
          </a:solidFill>
          <a:ln w="12700">
            <a:solidFill>
              <a:srgbClr val="2A3246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10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GPUₛ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3310128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of GPU compute actually consumed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67328"/>
            <a:ext cx="10972800" cy="475488"/>
          </a:xfrm>
          <a:prstGeom prst="roundRect">
            <a:avLst/>
          </a:prstGeom>
          <a:solidFill>
            <a:srgbClr val="0E1422">
              <a:alpha val="75000"/>
            </a:srgbClr>
          </a:solidFill>
          <a:ln w="12700">
            <a:solidFill>
              <a:srgbClr val="2A3246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770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gflops_norm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3877056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compute capacity (A100 = 1.0 baseline)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34256"/>
            <a:ext cx="10972800" cy="475488"/>
          </a:xfrm>
          <a:prstGeom prst="roundRect">
            <a:avLst/>
          </a:prstGeom>
          <a:solidFill>
            <a:srgbClr val="0E1422">
              <a:alpha val="75000"/>
            </a:srgbClr>
          </a:solidFill>
          <a:ln w="12700">
            <a:solidFill>
              <a:srgbClr val="2A3246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439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ModelTier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4443984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/ value multiplier for model class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901184"/>
            <a:ext cx="10972800" cy="475488"/>
          </a:xfrm>
          <a:prstGeom prst="roundRect">
            <a:avLst/>
          </a:prstGeom>
          <a:solidFill>
            <a:srgbClr val="0E1422">
              <a:alpha val="75000"/>
            </a:srgbClr>
          </a:solidFill>
          <a:ln w="12700">
            <a:solidFill>
              <a:srgbClr val="2A3246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0109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SLO_pass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5010912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uptime adherence score (0–1)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468112"/>
            <a:ext cx="10972800" cy="475488"/>
          </a:xfrm>
          <a:prstGeom prst="roundRect">
            <a:avLst/>
          </a:prstGeom>
          <a:solidFill>
            <a:srgbClr val="0E1422">
              <a:alpha val="75000"/>
            </a:srgbClr>
          </a:solidFill>
          <a:ln w="12700">
            <a:solidFill>
              <a:srgbClr val="2A3246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577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834640" y="557784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validation score from peer audits (0–1)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dimensionless scalar expressing verified “synthetic labor hours.”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11535" y="65562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>
              <a:alpha val="85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54135" y="502920"/>
            <a:ext cx="2788920" cy="329184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54135" y="566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CATHEDRAL EDITION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73152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Coupling: $AGIALPHA ↔ α‑WU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and incentives remain tethered to verifiable work.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5486400" cy="21488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057400"/>
            <a:ext cx="54864" cy="1508760"/>
          </a:xfrm>
          <a:prstGeom prst="roundRect">
            <a:avLst/>
          </a:prstGeom>
          <a:solidFill>
            <a:srgbClr val="D946EF"/>
          </a:solidFill>
          <a:ln w="12700">
            <a:solidFill>
              <a:srgbClr val="D94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3852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2304288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distribution proportional to validated α‑WU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stake + role activation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issuance with work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31280" y="1737360"/>
            <a:ext cx="5486400" cy="21488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59880" y="2057400"/>
            <a:ext cx="54864" cy="150876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78752" y="193852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78752" y="2304288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priced in α‑WU; paid in $AGIALPHA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→ release after validation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fees to workers/validators/treasury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5486400" cy="21488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709160"/>
            <a:ext cx="54864" cy="1508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59028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4956048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protocol fraction burned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scarcity to usage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Counterbalances emissions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31280" y="4389120"/>
            <a:ext cx="5486400" cy="21488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59880" y="4709160"/>
            <a:ext cx="54864" cy="150876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8752" y="459028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+ Metrics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78752" y="4956048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α‑Productivity Index = Σ α‑WU / epoch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Labor Yield (SLY) = α‑WU validated / $AGIALPHA circulating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dashboards: emission, burn, validator scores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11535" y="65562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>
              <a:alpha val="85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54135" y="502920"/>
            <a:ext cx="2788920" cy="329184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54135" y="566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CATHEDRAL EDITION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73152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On‑Chain Wage Curve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protocol‑level “synthetic wage rate” for validated work.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897880" cy="1828800"/>
          </a:xfrm>
          <a:prstGeom prst="roundRect">
            <a:avLst/>
          </a:prstGeom>
          <a:solidFill>
            <a:srgbClr val="0A0F1C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03120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rewardPerAlphaWU() public view returns (uint256)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epochEmission / totalAlphaWU;  // synthetic wage rate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874520"/>
            <a:ext cx="4873752" cy="182880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2194560"/>
            <a:ext cx="54864" cy="11887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22592" y="2075688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22592" y="2441448"/>
            <a:ext cx="43708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network α‑WU rises, reward per unit adjusts automatically.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Demand‑side fees (settlement) add a second signal to incentives.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Slashing &amp; validation keep the wage rate honest and auditable.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908792" cy="21488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16052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equilibrium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448056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rewards are computed from validated α‑WU, the protocol produces an adaptive wage curve: higher throughput spreads emissions thinner; higher demand strengthens fee flows. Participants can tune hardware, roles, and risk posture using observable metrics (α‑WU, SLY, validator scores).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11535" y="65562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>
              <a:alpha val="85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54135" y="502920"/>
            <a:ext cx="2788920" cy="329184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54135" y="566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CATHEDRAL EDITION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73152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Implementation Loop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→ sign → submit → validate → reward.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5440680" cy="44348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057400"/>
            <a:ext cx="54864" cy="379476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Daemon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2304288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Metering: NVML/DCGM/ROCm → GPUₛ + perf hashes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signing: Usage struct signed by node DID key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submitUsage() writes claim on‑chain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commit–reveal → SLO_pass + QV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claim: mint/unlock $AGIALPHA based on validated α‑WU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737360"/>
            <a:ext cx="5193792" cy="251460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2267712"/>
            <a:ext cx="4937760" cy="292608"/>
          </a:xfrm>
          <a:prstGeom prst="roundRect">
            <a:avLst/>
          </a:prstGeom>
          <a:solidFill>
            <a:srgbClr val="0A0F1C"/>
          </a:solidFill>
          <a:ln w="12700">
            <a:solidFill>
              <a:srgbClr val="2A3246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2331720"/>
            <a:ext cx="4608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GPU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2578608"/>
            <a:ext cx="0" cy="45720"/>
          </a:xfrm>
          <a:prstGeom prst="line">
            <a:avLst/>
          </a:prstGeom>
          <a:noFill/>
          <a:ln w="19050">
            <a:solidFill>
              <a:srgbClr val="2A324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37960" y="2606040"/>
            <a:ext cx="4937760" cy="292608"/>
          </a:xfrm>
          <a:prstGeom prst="roundRect">
            <a:avLst/>
          </a:prstGeom>
          <a:solidFill>
            <a:srgbClr val="0A0F1C"/>
          </a:solidFill>
          <a:ln w="12700">
            <a:solidFill>
              <a:srgbClr val="2A3246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2552" y="2670048"/>
            <a:ext cx="4608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Meter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6840" y="2916936"/>
            <a:ext cx="0" cy="45720"/>
          </a:xfrm>
          <a:prstGeom prst="line">
            <a:avLst/>
          </a:prstGeom>
          <a:noFill/>
          <a:ln w="19050">
            <a:solidFill>
              <a:srgbClr val="2A324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37960" y="2944368"/>
            <a:ext cx="4937760" cy="292608"/>
          </a:xfrm>
          <a:prstGeom prst="roundRect">
            <a:avLst/>
          </a:prstGeom>
          <a:solidFill>
            <a:srgbClr val="0A0F1C"/>
          </a:solidFill>
          <a:ln w="12700">
            <a:solidFill>
              <a:srgbClr val="2A3246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3008376"/>
            <a:ext cx="4608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Usage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06840" y="3255264"/>
            <a:ext cx="0" cy="45720"/>
          </a:xfrm>
          <a:prstGeom prst="line">
            <a:avLst/>
          </a:prstGeom>
          <a:noFill/>
          <a:ln w="19050">
            <a:solidFill>
              <a:srgbClr val="2A324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537960" y="3282696"/>
            <a:ext cx="4937760" cy="292608"/>
          </a:xfrm>
          <a:prstGeom prst="roundRect">
            <a:avLst/>
          </a:prstGeom>
          <a:solidFill>
            <a:srgbClr val="0A0F1C"/>
          </a:solidFill>
          <a:ln w="12700">
            <a:solidFill>
              <a:srgbClr val="2A3246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02552" y="3346704"/>
            <a:ext cx="4608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WorkMeter Contract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06840" y="3593592"/>
            <a:ext cx="0" cy="45720"/>
          </a:xfrm>
          <a:prstGeom prst="line">
            <a:avLst/>
          </a:prstGeom>
          <a:noFill/>
          <a:ln w="19050">
            <a:solidFill>
              <a:srgbClr val="2A324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37960" y="3621024"/>
            <a:ext cx="4937760" cy="292608"/>
          </a:xfrm>
          <a:prstGeom prst="roundRect">
            <a:avLst/>
          </a:prstGeom>
          <a:solidFill>
            <a:srgbClr val="0A0F1C"/>
          </a:solidFill>
          <a:ln w="12700">
            <a:solidFill>
              <a:srgbClr val="2A3246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2552" y="3685032"/>
            <a:ext cx="4608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06840" y="3931920"/>
            <a:ext cx="0" cy="45720"/>
          </a:xfrm>
          <a:prstGeom prst="line">
            <a:avLst/>
          </a:prstGeom>
          <a:noFill/>
          <a:ln w="19050">
            <a:solidFill>
              <a:srgbClr val="2A324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537960" y="3959352"/>
            <a:ext cx="4937760" cy="292608"/>
          </a:xfrm>
          <a:prstGeom prst="roundRect">
            <a:avLst/>
          </a:prstGeom>
          <a:solidFill>
            <a:srgbClr val="0A0F1C"/>
          </a:solidFill>
          <a:ln w="12700">
            <a:solidFill>
              <a:srgbClr val="2A3246">
                <a:alpha val="3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02552" y="4023360"/>
            <a:ext cx="4608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EmissionManager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55080" y="4434840"/>
            <a:ext cx="5193792" cy="1783080"/>
          </a:xfrm>
          <a:prstGeom prst="roundRect">
            <a:avLst/>
          </a:prstGeom>
          <a:solidFill>
            <a:srgbClr val="0A0F1C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663440"/>
            <a:ext cx="45537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Usage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uint256 gpuSeconds;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bytes32 perfHash;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bytes   sig;  // DID signature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911535" y="65562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>
              <a:alpha val="85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54135" y="502920"/>
            <a:ext cx="2788920" cy="329184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54135" y="566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CATHEDRAL EDITION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73152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Transparency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posture: measurable, auditable, steerable.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5486400" cy="21488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057400"/>
            <a:ext cx="54864" cy="150876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3852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2304288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α‑WU / epoch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+ burn rates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scores + participation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compliance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31280" y="1737360"/>
            <a:ext cx="5486400" cy="21488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59880" y="2057400"/>
            <a:ext cx="54864" cy="1508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78752" y="193852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Controls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78752" y="2304288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emissions + fee splits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α‑WU parameters (tiers, SLO)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modules via versioned releases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pause / circuit breaker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5486400" cy="21488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709160"/>
            <a:ext cx="54864" cy="1508760"/>
          </a:xfrm>
          <a:prstGeom prst="roundRect">
            <a:avLst/>
          </a:prstGeom>
          <a:solidFill>
            <a:srgbClr val="D946EF"/>
          </a:solidFill>
          <a:ln w="12700">
            <a:solidFill>
              <a:srgbClr val="D94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59028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4956048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Tamper‑evident decision logs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On‑chain hashes for artifacts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builds + SBOMs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forensics readiness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31280" y="4389120"/>
            <a:ext cx="5486400" cy="2148840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59880" y="4709160"/>
            <a:ext cx="54864" cy="150876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8752" y="459028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by Design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78752" y="4956048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Slashing for malfeasance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+ policy gating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custody best practices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A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override is final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11535" y="65562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monolith1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854135" y="502920"/>
            <a:ext cx="2788920" cy="329184"/>
          </a:xfrm>
          <a:prstGeom prst="roundRect">
            <a:avLst/>
          </a:prstGeom>
          <a:solidFill>
            <a:srgbClr val="0E1422"/>
          </a:solidFill>
          <a:ln w="12700">
            <a:solidFill>
              <a:srgbClr val="2A3246">
                <a:alpha val="6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54135" y="566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58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Network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13232" y="13898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node. Bind identity. Stake. Produce verifiable work.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2011680"/>
            <a:ext cx="10881360" cy="3246120"/>
          </a:xfrm>
          <a:prstGeom prst="round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2A3246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2286000"/>
            <a:ext cx="10149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Claim &lt;name&gt;.alpha.node.agi.eth and set resolver + contenthash.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Publish node‑manifest.json (endpoints, keys, capabilities).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Stake $AGIALPHA and activate roles (worker / validator / sentinel).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Deploy the container and pass boot‑time safety checks.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Start completing jobs and minting verified α‑WU.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5800" y="5532120"/>
            <a:ext cx="10881360" cy="658368"/>
          </a:xfrm>
          <a:prstGeom prst="round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2A3246">
                <a:alpha val="4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56967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cathedral—one verifiable work unit at a time.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556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NODES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911535" y="65562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MONTREAL.AI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AGI ALPHA NODES — Synthetic AI Labor Infrastructure</dc:subject>
  <dc:creator>MONTREAL.AI</dc:creator>
  <cp:lastModifiedBy>MONTREAL.AI</cp:lastModifiedBy>
  <cp:revision>1</cp:revision>
  <dcterms:created xsi:type="dcterms:W3CDTF">2026-01-01T23:13:56Z</dcterms:created>
  <dcterms:modified xsi:type="dcterms:W3CDTF">2026-01-01T23:13:56Z</dcterms:modified>
</cp:coreProperties>
</file>